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24db015372449d" /><Relationship Type="http://schemas.openxmlformats.org/officeDocument/2006/relationships/extended-properties" Target="/docProps/app.xml" Id="Rf65d7e6c4e784d9a" /><Relationship Type="http://schemas.openxmlformats.org/officeDocument/2006/relationships/officeDocument" Target="/ppt/presentation.xml" Id="Ra39abb0082ea4d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206e38c3dd4c31"/>
  </p:sldMasterIdLst>
  <p:notesMasterIdLst>
    <p:notesMasterId xmlns:r="http://schemas.openxmlformats.org/officeDocument/2006/relationships" r:id="R89521fb66fdc4085"/>
  </p:notesMasterIdLst>
  <p:sldIdLst>
    <p:sldId xmlns:r="http://schemas.openxmlformats.org/officeDocument/2006/relationships" id="256" r:id="R4591b3ff2384400d"/>
    <p:sldId xmlns:r="http://schemas.openxmlformats.org/officeDocument/2006/relationships" id="257" r:id="R22b549b1bb5e4cc5"/>
    <p:sldId xmlns:r="http://schemas.openxmlformats.org/officeDocument/2006/relationships" id="258" r:id="R2999c304366a4bfd"/>
    <p:sldId xmlns:r="http://schemas.openxmlformats.org/officeDocument/2006/relationships" id="259" r:id="Rc2d7438d8e744369"/>
    <p:sldId xmlns:r="http://schemas.openxmlformats.org/officeDocument/2006/relationships" id="260" r:id="Rbfd28181606d44d7"/>
    <p:sldId xmlns:r="http://schemas.openxmlformats.org/officeDocument/2006/relationships" id="261" r:id="R299c3e7749414861"/>
    <p:sldId xmlns:r="http://schemas.openxmlformats.org/officeDocument/2006/relationships" id="262" r:id="R3df3244597534955"/>
    <p:sldId xmlns:r="http://schemas.openxmlformats.org/officeDocument/2006/relationships" id="263" r:id="R4437cf4fa1e745ab"/>
    <p:sldId xmlns:r="http://schemas.openxmlformats.org/officeDocument/2006/relationships" id="264" r:id="R96c19c7ae74948ce"/>
    <p:sldId xmlns:r="http://schemas.openxmlformats.org/officeDocument/2006/relationships" id="265" r:id="R3163173c6ec04b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75bc753e5e4a39" /><Relationship Type="http://schemas.openxmlformats.org/officeDocument/2006/relationships/slideMaster" Target="/ppt/slideMasters/slideMaster1.xml" Id="R90206e38c3dd4c31" /><Relationship Type="http://schemas.openxmlformats.org/officeDocument/2006/relationships/notesMaster" Target="/ppt/notesMasters/notesMaster1.xml" Id="R89521fb66fdc4085" /><Relationship Type="http://schemas.openxmlformats.org/officeDocument/2006/relationships/presProps" Target="/ppt/presProps.xml" Id="Ra19110b6efd74bda" /><Relationship Type="http://schemas.openxmlformats.org/officeDocument/2006/relationships/tableStyles" Target="/ppt/tableStyles.xml" Id="R70df8b37a52b4f94" /><Relationship Type="http://schemas.openxmlformats.org/officeDocument/2006/relationships/slide" Target="/ppt/slides/slide1.xml" Id="R4591b3ff2384400d" /><Relationship Type="http://schemas.openxmlformats.org/officeDocument/2006/relationships/slide" Target="/ppt/slides/slide2.xml" Id="R22b549b1bb5e4cc5" /><Relationship Type="http://schemas.openxmlformats.org/officeDocument/2006/relationships/slide" Target="/ppt/slides/slide3.xml" Id="R2999c304366a4bfd" /><Relationship Type="http://schemas.openxmlformats.org/officeDocument/2006/relationships/slide" Target="/ppt/slides/slide4.xml" Id="Rc2d7438d8e744369" /><Relationship Type="http://schemas.openxmlformats.org/officeDocument/2006/relationships/slide" Target="/ppt/slides/slide5.xml" Id="Rbfd28181606d44d7" /><Relationship Type="http://schemas.openxmlformats.org/officeDocument/2006/relationships/slide" Target="/ppt/slides/slide6.xml" Id="R299c3e7749414861" /><Relationship Type="http://schemas.openxmlformats.org/officeDocument/2006/relationships/slide" Target="/ppt/slides/slide7.xml" Id="R3df3244597534955" /><Relationship Type="http://schemas.openxmlformats.org/officeDocument/2006/relationships/slide" Target="/ppt/slides/slide8.xml" Id="R4437cf4fa1e745ab" /><Relationship Type="http://schemas.openxmlformats.org/officeDocument/2006/relationships/slide" Target="/ppt/slides/slide9.xml" Id="R96c19c7ae74948ce" /><Relationship Type="http://schemas.openxmlformats.org/officeDocument/2006/relationships/slide" Target="/ppt/slides/slide10.xml" Id="R3163173c6ec04b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f98d87786943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d3fbde1d584d0e" /><Relationship Type="http://schemas.openxmlformats.org/officeDocument/2006/relationships/notesMaster" Target="/ppt/notesMasters/notesMaster1.xml" Id="Rd1b92b4b17ad49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bf7cb373e44193" /><Relationship Type="http://schemas.openxmlformats.org/officeDocument/2006/relationships/notesMaster" Target="/ppt/notesMasters/notesMaster1.xml" Id="R9b9843e71d5148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c419afb6764fee" /><Relationship Type="http://schemas.openxmlformats.org/officeDocument/2006/relationships/notesMaster" Target="/ppt/notesMasters/notesMaster1.xml" Id="Rb240278893864d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1353e01c96487d" /><Relationship Type="http://schemas.openxmlformats.org/officeDocument/2006/relationships/notesMaster" Target="/ppt/notesMasters/notesMaster1.xml" Id="R7dd34ec3a16a4b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1ee7ca71b94dd9" /><Relationship Type="http://schemas.openxmlformats.org/officeDocument/2006/relationships/notesMaster" Target="/ppt/notesMasters/notesMaster1.xml" Id="Rddbb5de7edea4f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8097a5981f43ae" /><Relationship Type="http://schemas.openxmlformats.org/officeDocument/2006/relationships/notesMaster" Target="/ppt/notesMasters/notesMaster1.xml" Id="R858d97589e404f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b33a43134c414a" /><Relationship Type="http://schemas.openxmlformats.org/officeDocument/2006/relationships/notesMaster" Target="/ppt/notesMasters/notesMaster1.xml" Id="R901664286d6846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e0a11423e844c5" /><Relationship Type="http://schemas.openxmlformats.org/officeDocument/2006/relationships/notesMaster" Target="/ppt/notesMasters/notesMaster1.xml" Id="R4d125960323f4f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d1074ffc00405e" /><Relationship Type="http://schemas.openxmlformats.org/officeDocument/2006/relationships/notesMaster" Target="/ppt/notesMasters/notesMaster1.xml" Id="Rfc48de017d2341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6eb646181840d7" /><Relationship Type="http://schemas.openxmlformats.org/officeDocument/2006/relationships/notesMaster" Target="/ppt/notesMasters/notesMaster1.xml" Id="R0593bd6bf54a49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Materia: Fundamentos de Medicina y Aplicaciones de Inteligencia Artificial. Presentación de una PoC ejecutada. La pregunta es si hay señal útil para priorizar seguimiento al alta. Fuente: ejecución propia de PoC_Reingresos_Diabetes.ipynb. Métricas exactas en output/results.json. Split por paciente, semilla 42. Fuente de datos: Clore et al. (2014), UCI Diabetes 130-US Hospitals, https://doi.org/10.24432/C5230J. Licencia CC BY 4.0. Diccionario IDS_mapping.csv incluido en el ZIP original.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datos: Clore et al. (2014), UCI Diabetes 130-US Hospitals, https://doi.org/10.24432/C5230J. Licencia CC BY 4.0. Diccionario IDS_mapping.csv incluido en el ZIP original. El endpoint es readmitted=&lt;30 contra &gt;30 o NO. El dataset no identifica evitabilidad ni recaída específica de diabetes. La unidad es una internación elegible, no un paciente único. La intervención asistencial es una propuesta futura.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datos: Clore et al. (2014), UCI Diabetes 130-US Hospitals, https://doi.org/10.24432/C5230J. Licencia CC BY 4.0. Diccionario IDS_mapping.csv incluido en el ZIP original. Fuente: ejecución propia de PoC_Reingresos_Diabetes.ipynb. Métricas exactas en output/results.json. Split por paciente, semilla 42. Original: 101.766 filas. Exclusiones secuenciales: 852 menores de 20 años, 2.421 fallecimiento/hospice, 3 sexo inválido. Edad agrupada impide separar 18–19 años. Incluye transferencias. Test tiene 2.259 positivos.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ejecución propia de PoC_Reingresos_Diabetes.ipynb. Métricas exactas en output/results.json. Split por paciente, semilla 42. Criterio predefinido de continuidad: AP/prevalencia≥1,5; lift@20≥1,5; IC95 inferior de AP−prevalencia&gt;0 y AUROC&gt;0,5. Heurística académica, no norma clínica. Imputación y encoding solo con train. HGB sin early stopping.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ejecución propia de PoC_Reingresos_Diabetes.ipynb. Métricas exactas en output/results.json. Split por paciente, semilla 42. Se seleccionó logística en validación: AP 0,219365 frente a 0,216282. Se mantiene aunque boosting alcance 0,220077 en test. No se afirma superioridad estadística entre modelos. AP es Average Precision. Brier menor es mejor. IC95 logística: AUROC [0,6600,0,6844]; AP [0,2015,0,2365].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ejecución propia de PoC_Reingresos_Diabetes.ipynb. Métricas exactas en output/results.json. Split por paciente, semilla 42. Test: se seleccionan ceil(0,2×19771)=3.955 episodios. TP 876, FP 3.079, FN 1.383. Esperanza al azar 451,89. Lift 1,9385, IC95 [1,8385,2,0434]. Se evalúan episodios históricos, no reducción de eventos por tratamiento.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ejecución propia de PoC_Reingresos_Diabetes.ipynb. Métricas exactas en output/results.json. Split por paciente, semilla 42. Importancia por permutación de logística, 5.000 episodios de validación, tres repeticiones. Mostrar medias; desviaciones disponibles en notebook. No causal. Variables correlacionadas pueden repartirse señal.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ejecución propia de PoC_Reingresos_Diabetes.ipynb. Métricas exactas en output/results.json. Split por paciente, semilla 42. Validación: HGB completo AP 0,216282; sin utilización AP 0,179034; solo utilización LR AP 0,186013; etiquetas permutadas HGB AP 0,119059, AUROC 0,506806. Prevalencia validación 0,113557. No se usaron estas variantes para seleccionar el modelo principal.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datos: Clore et al. (2014), UCI Diabetes 130-US Hospitals, https://doi.org/10.24432/C5230J. Licencia CC BY 4.0. Diccionario IDS_mapping.csv incluido en el ZIP original. Fuente: ejecución propia de PoC_Reingresos_Diabetes.ipynb. Métricas exactas en output/results.json. Split por paciente, semilla 42. La cohorte principal incluye transferencias. En altas a domicilio: n=14.561; prevalencia=0,10047; AUROC=0,66514; AP=0,19646; lift20=1,95435. Solo sensibilidad descriptiva. El notebook incluye calibración y subgrupos.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ejecución propia de PoC_Reingresos_Diabetes.ipynb. Métricas exactas en output/results.json. Split por paciente, semilla 42. Se cumplen los umbrales exploratorios fijados antes de abrir test. Próxima entrega: repetición por grupos, revisión de cohorte, calibración, errores y demo. El test actual ya se consultó: no usarlo reiteradamente para ajustar. Para uso clínico se requiere validación externa/prospectiva e impacto.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0ffa00b2ac41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4eadc258e45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7335c99b4346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da82b3f4c4c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09247417d948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e1c6649ede40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7FA78F2-ED46-4B69-A86A-67001C95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335D1AE-763E-4EC2-BF5B-0B84135E87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4E92CDF-10E1-4538-BB17-5A93FD8AC0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7358A10-24B0-4FAC-84DA-7CE962C9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9DCA90-50CA-4DC1-91EB-BCCE35CBEF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A2F4098-9691-4472-9DF9-AF4A60E0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ACF4C69-5B3B-401F-A1E2-157A2F2E37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55CAE23-49E9-40A3-9A0E-95D1DD81EB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7E4C980-A673-4F52-B621-A88B631B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702E6B-D711-4224-9DEC-3C92E464A8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2AB471-6233-4E1E-AC53-29FD51FEC8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7A17BB6-9CE5-49F4-80FB-14DEE76241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C9DDDBD-C4C0-47DF-AE34-B2900EA2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62DBEA-20F2-451F-83E4-1A85B276BF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F7AA7F-A4C7-484B-BED8-CC9A8D5463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a85d5741fd481c" /><Relationship Type="http://schemas.openxmlformats.org/officeDocument/2006/relationships/slideLayout" Target="/ppt/slideLayouts/slideLayout1.xml" Id="R8d66a9317ebb4be4" /><Relationship Type="http://schemas.openxmlformats.org/officeDocument/2006/relationships/slideLayout" Target="/ppt/slideLayouts/slideLayout2.xml" Id="Rb5383304ec7a4839" /><Relationship Type="http://schemas.openxmlformats.org/officeDocument/2006/relationships/slideLayout" Target="/ppt/slideLayouts/slideLayout3.xml" Id="R9b2d8295af644228" /><Relationship Type="http://schemas.openxmlformats.org/officeDocument/2006/relationships/slideLayout" Target="/ppt/slideLayouts/slideLayout4.xml" Id="R37f429941ee44646" /><Relationship Type="http://schemas.openxmlformats.org/officeDocument/2006/relationships/slideLayout" Target="/ppt/slideLayouts/slideLayout5.xml" Id="R3adbc57c26de4ce2" /><Relationship Type="http://schemas.openxmlformats.org/officeDocument/2006/relationships/slideLayout" Target="/ppt/slideLayouts/slideLayout6.xml" Id="R73ca048da6b54a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66a9317ebb4be4"/>
    <p:sldLayoutId xmlns:r="http://schemas.openxmlformats.org/officeDocument/2006/relationships" id="2147483650" r:id="Rb5383304ec7a4839"/>
    <p:sldLayoutId xmlns:r="http://schemas.openxmlformats.org/officeDocument/2006/relationships" id="2147483651" r:id="R9b2d8295af644228"/>
    <p:sldLayoutId xmlns:r="http://schemas.openxmlformats.org/officeDocument/2006/relationships" id="2147483652" r:id="R37f429941ee44646"/>
    <p:sldLayoutId xmlns:r="http://schemas.openxmlformats.org/officeDocument/2006/relationships" id="2147483653" r:id="R3adbc57c26de4ce2"/>
    <p:sldLayoutId xmlns:r="http://schemas.openxmlformats.org/officeDocument/2006/relationships" id="2147483654" r:id="R73ca048da6b54a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3e15e55cc64733" /><Relationship Type="http://schemas.openxmlformats.org/officeDocument/2006/relationships/notesSlide" Target="/ppt/notesSlides/notesSlide1.xml" Id="Rdc2a0bb6fbe740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9a67e0b9c4d49" /><Relationship Type="http://schemas.openxmlformats.org/officeDocument/2006/relationships/notesSlide" Target="/ppt/notesSlides/notesSlide2.xml" Id="Re9cf38996a4d4d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f5c917e6154ea3" /><Relationship Type="http://schemas.openxmlformats.org/officeDocument/2006/relationships/notesSlide" Target="/ppt/notesSlides/notesSlide3.xml" Id="Ra36eb74c7de84e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986a08ee4d4624" /><Relationship Type="http://schemas.openxmlformats.org/officeDocument/2006/relationships/notesSlide" Target="/ppt/notesSlides/notesSlide4.xml" Id="Rf00f3cc7a3704a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5d9569a1f4e4c" /><Relationship Type="http://schemas.openxmlformats.org/officeDocument/2006/relationships/notesSlide" Target="/ppt/notesSlides/notesSlide5.xml" Id="R15bda3b17f7947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3139ac36074db3" /><Relationship Type="http://schemas.openxmlformats.org/officeDocument/2006/relationships/chart" Target="/ppt/slides/charts/chart1.xml" Id="Rd199eba488264433" /><Relationship Type="http://schemas.openxmlformats.org/officeDocument/2006/relationships/notesSlide" Target="/ppt/notesSlides/notesSlide6.xml" Id="R053502492de34c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9e2fcf7d444f35" /><Relationship Type="http://schemas.openxmlformats.org/officeDocument/2006/relationships/chart" Target="/ppt/slides/charts/chart2.xml" Id="R6d8161f0c27e41d4" /><Relationship Type="http://schemas.openxmlformats.org/officeDocument/2006/relationships/notesSlide" Target="/ppt/notesSlides/notesSlide7.xml" Id="R85247edece914b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c2339a833d4d1d" /><Relationship Type="http://schemas.openxmlformats.org/officeDocument/2006/relationships/chart" Target="/ppt/slides/charts/chart3.xml" Id="R22f2f6b4805a44e3" /><Relationship Type="http://schemas.openxmlformats.org/officeDocument/2006/relationships/notesSlide" Target="/ppt/notesSlides/notesSlide8.xml" Id="R74c01a0f8bc148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fe4b0bf80477b" /><Relationship Type="http://schemas.openxmlformats.org/officeDocument/2006/relationships/notesSlide" Target="/ppt/notesSlides/notesSlide9.xml" Id="Rf52180f091024b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26ad39b42e4439" /><Relationship Type="http://schemas.openxmlformats.org/officeDocument/2006/relationships/notesSlide" Target="/ppt/notesSlides/notesSlide10.xml" Id="Re56472095770444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Logística</c:v>
          </c:tx>
          <c:spPr>
            <a:ln xmlns:a="http://schemas.openxmlformats.org/drawingml/2006/main" w="28575">
              <a:solidFill>
                <a:srgbClr val="147D92"/>
              </a:solidFill>
            </a:ln>
          </c:spPr>
          <c:marker>
            <c:symbol val="none"/>
          </c:marker>
          <c:xVal>
            <c:numRef>
              <c:f>'Chart Data'!$A$2:$A$14</c:f>
              <c:numCache>
                <c:formatCode>General</c:formatCode>
                <c:ptCount val="13"/>
                <c:pt idx="0">
                  <c:v>0</c:v>
                </c:pt>
                <c:pt idx="1">
                  <c:v>0.01</c:v>
                </c:pt>
                <c:pt idx="2">
                  <c:v>0.05</c:v>
                </c:pt>
                <c:pt idx="3">
                  <c:v>0.1</c:v>
                </c:pt>
                <c:pt idx="4">
                  <c:v>0.2</c:v>
                </c:pt>
                <c:pt idx="5">
                  <c:v>0.3</c:v>
                </c:pt>
                <c:pt idx="6">
                  <c:v>0.4</c:v>
                </c:pt>
                <c:pt idx="7">
                  <c:v>0.5</c:v>
                </c:pt>
                <c:pt idx="8">
                  <c:v>0.6</c:v>
                </c:pt>
                <c:pt idx="9">
                  <c:v>0.7</c:v>
                </c:pt>
                <c:pt idx="10">
                  <c:v>0.8</c:v>
                </c:pt>
                <c:pt idx="11">
                  <c:v>0.9</c:v>
                </c:pt>
                <c:pt idx="12">
                  <c:v>1</c:v>
                </c:pt>
              </c:numCache>
            </c:numRef>
          </c:xVal>
          <c:yVal>
            <c:numRef>
              <c:f>'Chart Data'!$B$2:$B$14</c:f>
              <c:numCache>
                <c:formatCode>0%</c:formatCode>
                <c:ptCount val="13"/>
                <c:pt idx="0">
                  <c:v>0</c:v>
                </c:pt>
                <c:pt idx="1">
                  <c:v>0.033643</c:v>
                </c:pt>
                <c:pt idx="2">
                  <c:v>0.130146</c:v>
                </c:pt>
                <c:pt idx="3">
                  <c:v>0.233289</c:v>
                </c:pt>
                <c:pt idx="4">
                  <c:v>0.387782</c:v>
                </c:pt>
                <c:pt idx="5">
                  <c:v>0.517043</c:v>
                </c:pt>
                <c:pt idx="6">
                  <c:v>0.625941</c:v>
                </c:pt>
                <c:pt idx="7">
                  <c:v>0.717131</c:v>
                </c:pt>
                <c:pt idx="8">
                  <c:v>0.789287</c:v>
                </c:pt>
                <c:pt idx="9">
                  <c:v>0.85436</c:v>
                </c:pt>
                <c:pt idx="10">
                  <c:v>0.919876</c:v>
                </c:pt>
                <c:pt idx="11">
                  <c:v>0.96193</c:v>
                </c:pt>
                <c:pt idx="12">
                  <c:v>1</c:v>
                </c:pt>
              </c:numCache>
            </c:numRef>
          </c:yVal>
        </c:ser>
        <c:ser>
          <c:idx val="1"/>
          <c:order val="1"/>
          <c:tx>
            <c:v>Azar</c:v>
          </c:tx>
          <c:spPr>
            <a:ln xmlns:a="http://schemas.openxmlformats.org/drawingml/2006/main" w="19050">
              <a:solidFill>
                <a:srgbClr val="9CA9B0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0%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E5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Reingresos capturados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Episodios seleccionados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  <c:majorUnit val="0.2"/>
      </c:valAx>
      <c:spPr>
        <a:solidFill xmlns:a="http://schemas.openxmlformats.org/drawingml/2006/main">
          <a:srgbClr val="FAFCFB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DejaVu Sans"/>
              <a:ea typeface="DejaVu Sans"/>
              <a:cs typeface="DejaVu Sans"/>
            </a:defRPr>
          </a:pPr>
        </a:p>
      </c:txPr>
    </c:legend>
    <c:plotVisOnly val="1"/>
  </c:chart>
  <c:spPr>
    <a:solidFill xmlns:a="http://schemas.openxmlformats.org/drawingml/2006/main">
      <a:srgbClr val="FAFCFB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Caída de AP</c:v>
          </c:tx>
          <c:spPr>
            <a:solidFill xmlns:a="http://schemas.openxmlformats.org/drawingml/2006/main">
              <a:srgbClr val="147D92"/>
            </a:solidFill>
          </c:spPr>
          <c:cat>
            <c:strRef>
              <c:f>'Chart Data'!$A$2:$A$6</c:f>
              <c:strCache>
                <c:ptCount val="5"/>
                <c:pt idx="0">
                  <c:v>Medicación para diabetes</c:v>
                </c:pt>
                <c:pt idx="1">
                  <c:v>Diagnóstico principal</c:v>
                </c:pt>
                <c:pt idx="2">
                  <c:v>Diagnóstico secundario</c:v>
                </c:pt>
                <c:pt idx="3">
                  <c:v>Destino al alta</c:v>
                </c:pt>
                <c:pt idx="4">
                  <c:v>Internaciones previas</c:v>
                </c:pt>
              </c:strCache>
            </c:strRef>
          </c:cat>
          <c:val>
            <c:numRef>
              <c:f>'Chart Data'!$B$2:$B$6</c:f>
              <c:numCache>
                <c:formatCode>0.000</c:formatCode>
                <c:ptCount val="5"/>
                <c:pt idx="0">
                  <c:v>0.002224</c:v>
                </c:pt>
                <c:pt idx="1">
                  <c:v>0.003631</c:v>
                </c:pt>
                <c:pt idx="2">
                  <c:v>0.007048</c:v>
                </c:pt>
                <c:pt idx="3">
                  <c:v>0.021094</c:v>
                </c:pt>
                <c:pt idx="4">
                  <c:v>0.054397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0.06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Caída de AP al permutar la variable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CFB"/>
        </a:solidFill>
      </c:spPr>
    </c:plotArea>
    <c:plotVisOnly val="1"/>
  </c:chart>
  <c:spPr>
    <a:solidFill xmlns:a="http://schemas.openxmlformats.org/drawingml/2006/main">
      <a:srgbClr val="FAFCFB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AP en validación</c:v>
          </c:tx>
          <c:spPr>
            <a:solidFill xmlns:a="http://schemas.openxmlformats.org/drawingml/2006/main">
              <a:srgbClr val="147D92"/>
            </a:solidFill>
          </c:spPr>
          <c:cat>
            <c:strRef>
              <c:f>'Chart Data'!$A$2:$A$5</c:f>
              <c:strCache>
                <c:ptCount val="4"/>
                <c:pt idx="0">
                  <c:v>HGB completo</c:v>
                </c:pt>
                <c:pt idx="1">
                  <c:v>HGB sin uso previo</c:v>
                </c:pt>
                <c:pt idx="2">
                  <c:v>LR solo uso previo</c:v>
                </c:pt>
                <c:pt idx="3">
                  <c:v>HGB etiquetas permutadas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0.216282</c:v>
                </c:pt>
                <c:pt idx="1">
                  <c:v>0.179034</c:v>
                </c:pt>
                <c:pt idx="2">
                  <c:v>0.186013</c:v>
                </c:pt>
                <c:pt idx="3">
                  <c:v>0.119059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0.26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Average Precision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CFB"/>
        </a:solidFill>
      </c:spPr>
    </c:plotArea>
    <c:plotVisOnly val="1"/>
  </c:chart>
  <c:spPr>
    <a:solidFill xmlns:a="http://schemas.openxmlformats.org/drawingml/2006/main">
      <a:srgbClr val="FAFCFB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3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FD99C-866F-4BFA-AF76-7D3F516E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0572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Reingreso hospitalario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antes de 30 días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2F270-CF68-4ABE-A646-9BF1D373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A6D9E0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A6D9E0"/>
                </a:solidFill>
                <a:latin typeface="DejaVu Sans"/>
                <a:ea typeface="DejaVu Sans"/>
                <a:cs typeface="DejaVu Sans"/>
              </a:rPr>
              <a:t>Prueba de factibilidad técnica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ADA76-CDAD-4B9A-A4E2-93D02F88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Lucas Didone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Primera entrega integradora · 2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6550940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30FB2-6FF9-41E8-87CB-21ACBF45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Pregunta y uso propuesto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36EE5-9F31-433C-BF23-AF61A7D3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EF981-1A41-4A15-8961-7136AAC4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47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7D92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7D92"/>
                </a:solidFill>
                <a:latin typeface="DejaVu Sans"/>
                <a:ea typeface="DejaVu Sans"/>
                <a:cs typeface="DejaVu Sans"/>
              </a:rPr>
              <a:t>¿A qué altas priorizar si el equipo</a:t>
            </a:r>
          </a:p>
          <a:p xmlns:a="http://schemas.openxmlformats.org/drawingml/2006/main">
            <a:pPr>
              <a:defRPr sz="3150" b="1">
                <a:solidFill>
                  <a:srgbClr val="147D92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7D92"/>
                </a:solidFill>
                <a:latin typeface="DejaVu Sans"/>
                <a:ea typeface="DejaVu Sans"/>
                <a:cs typeface="DejaVu Sans"/>
              </a:rPr>
              <a:t>puede seguir solo al 20%?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B92B7-9475-483A-8C2C-5B0A3300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Momento de predicción: al alta hospitalaria.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88009-ADCE-46A2-B90D-7542F056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Evento: reingreso registrado antes de 30 días, de cualquier causa.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304A3-1EEB-4535-99A4-4A22B230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Salida: ranking de episodios para revisión y seguimiento.</a:t>
            </a:r>
          </a:p>
        </p:txBody>
      </p:sp>
    </p:spTree>
    <p:extLst>
      <p:ext uri="{BB962C8B-B14F-4D97-AF65-F5344CB8AC3E}">
        <p14:creationId xmlns:p14="http://schemas.microsoft.com/office/powerpoint/2010/main" val="7933257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05B99-6134-4487-92D8-59C30046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Datos y cohorte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4E253-A8A6-49BF-9B49-8F0EEAB4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70F5C-9534-4839-A897-E89B7E23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7D92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47D92"/>
                </a:solidFill>
                <a:latin typeface="DejaVu Sans"/>
                <a:ea typeface="DejaVu Sans"/>
                <a:cs typeface="DejaVu Sans"/>
              </a:rPr>
              <a:t>98.490 episodios de 69.311 pacientes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4030D-E63E-4043-9AF4-3CA742F5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EE. UU., 1999–2008. Cohorte de 20 años o más, sin fallecimiento ni hospice.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3429000"/>
          <a:ext xmlns:a="http://schemas.openxmlformats.org/drawingml/2006/main" cx="104775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2762250"/>
                <a:gridCol w="2762250"/>
              </a:tblGrid>
              <a:tr h="5953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Partición</a:t>
                      </a:r>
                    </a:p>
                  </a:txBody>
                  <a:tcPr marL="114300" marR="114300" marT="95250" marB="95250" anchor="ctr">
                    <a:solidFill>
                      <a:srgbClr val="E2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Episodios</a:t>
                      </a:r>
                    </a:p>
                  </a:txBody>
                  <a:tcPr marL="114300" marR="114300" marT="95250" marB="95250" anchor="ctr">
                    <a:solidFill>
                      <a:srgbClr val="E2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Pacientes</a:t>
                      </a:r>
                    </a:p>
                  </a:txBody>
                  <a:tcPr marL="114300" marR="114300" marT="95250" marB="95250" anchor="ctr">
                    <a:solidFill>
                      <a:srgbClr val="E2EFF1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Entrenamiento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58.870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41.586</a:t>
                      </a:r>
                    </a:p>
                  </a:txBody>
                  <a:tcPr marL="114300" marR="114300" marT="95250" marB="95250" anchor="ctr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Validación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19.849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13.862</a:t>
                      </a:r>
                    </a:p>
                  </a:txBody>
                  <a:tcPr marL="114300" marR="114300" marT="95250" marB="95250" anchor="ctr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19.771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13.863</a:t>
                      </a:r>
                    </a:p>
                  </a:txBody>
                  <a:tcPr marL="114300" marR="114300" marT="95250" marB="95250" anchor="ctr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241F8-CCBD-484C-A5C4-7BAA0EC6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48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7D9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7D92"/>
                </a:solidFill>
                <a:latin typeface="DejaVu Sans"/>
                <a:ea typeface="DejaVu Sans"/>
                <a:cs typeface="DejaVu Sans"/>
              </a:rPr>
              <a:t>Cero pacientes compartidos entre particiones</a:t>
            </a:r>
          </a:p>
        </p:txBody>
      </p:sp>
    </p:spTree>
    <p:extLst>
      <p:ext uri="{BB962C8B-B14F-4D97-AF65-F5344CB8AC3E}">
        <p14:creationId xmlns:p14="http://schemas.microsoft.com/office/powerpoint/2010/main" val="862590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1BE49-793C-4B6E-B30F-82EB5920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Protocolo de evaluación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05AC8-ADD0-4B4E-A102-B4381CD5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D90BA-CF6F-4FF5-ADB2-BD161B39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42 features: antecedentes de utilización, diagnósticos y datos de la internación.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BD5D7-AD6C-4704-9955-69A8EC71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Preprocesamiento ajustado solo en entrenamiento. Identificadores excluidos.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47604-02E4-4F13-884C-12344739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Logística y gradient boosting con configuraciones pequeñas y fijas.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103B8-CA78-4D89-98D1-3A2610C1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Selección por Average Precision en validación. Test reservado.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71B3B-E53F-42E6-8FA8-FB94FCD0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Incertidumbre: bootstrap de 300 muestras de pacientes completos.</a:t>
            </a:r>
          </a:p>
        </p:txBody>
      </p:sp>
    </p:spTree>
    <p:extLst>
      <p:ext uri="{BB962C8B-B14F-4D97-AF65-F5344CB8AC3E}">
        <p14:creationId xmlns:p14="http://schemas.microsoft.com/office/powerpoint/2010/main" val="12688495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76A9A-EEFB-414E-9D29-93F88066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Hay señal predictiva moderada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2F160-38E7-47E8-A6B6-64A8546A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4775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19625"/>
                <a:gridCol w="1952625"/>
                <a:gridCol w="1952625"/>
                <a:gridCol w="1952625"/>
              </a:tblGrid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Modelo</a:t>
                      </a:r>
                    </a:p>
                  </a:txBody>
                  <a:tcPr marL="114300" marR="114300" marT="95250" marB="95250" anchor="ctr">
                    <a:solidFill>
                      <a:srgbClr val="E2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AUROC</a:t>
                      </a:r>
                    </a:p>
                  </a:txBody>
                  <a:tcPr marL="114300" marR="114300" marT="95250" marB="95250" anchor="ctr">
                    <a:solidFill>
                      <a:srgbClr val="E2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</a:t>
                      </a:r>
                    </a:p>
                  </a:txBody>
                  <a:tcPr marL="114300" marR="114300" marT="95250" marB="95250" anchor="ctr">
                    <a:solidFill>
                      <a:srgbClr val="E2EF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Brier</a:t>
                      </a:r>
                    </a:p>
                  </a:txBody>
                  <a:tcPr marL="114300" marR="114300" marT="95250" marB="95250" anchor="ctr">
                    <a:solidFill>
                      <a:srgbClr val="E2EFF1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Prevalencia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0,500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0,114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0,101</a:t>
                      </a:r>
                    </a:p>
                  </a:txBody>
                  <a:tcPr marL="114300" marR="114300" marT="95250" marB="95250" anchor="ctr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Solo uso previo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0,613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0,184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0,099</a:t>
                      </a:r>
                    </a:p>
                  </a:txBody>
                  <a:tcPr marL="114300" marR="114300" marT="95250" marB="95250" anchor="ctr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Logística elegida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0,672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0,217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0,097</a:t>
                      </a:r>
                    </a:p>
                  </a:txBody>
                  <a:tcPr marL="114300" marR="114300" marT="95250" marB="95250" anchor="ctr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Gradient boosting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0,670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0,220</a:t>
                      </a:r>
                    </a:p>
                  </a:txBody>
                  <a:tcPr marL="114300" marR="11430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34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0,097</a:t>
                      </a:r>
                    </a:p>
                  </a:txBody>
                  <a:tcPr marL="114300" marR="114300" marT="95250" marB="95250" anchor="ctr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E6E70-ADD5-4A95-88DC-F94CD812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7D9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47D92"/>
                </a:solidFill>
                <a:latin typeface="DejaVu Sans"/>
                <a:ea typeface="DejaVu Sans"/>
                <a:cs typeface="DejaVu Sans"/>
              </a:rPr>
              <a:t>AP 0,217 frente a una prevalencia de 0,114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334AF-3A7D-4C1B-8D2F-792F1EEF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150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6B"/>
                </a:solidFill>
                <a:latin typeface="DejaVu Sans"/>
                <a:ea typeface="DejaVu Sans"/>
                <a:cs typeface="DejaVu Sans"/>
              </a:rPr>
              <a:t>AUROC: IC95% 0,660–0,684. La elección se fijó en validación.</a:t>
            </a:r>
          </a:p>
        </p:txBody>
      </p:sp>
    </p:spTree>
    <p:extLst>
      <p:ext uri="{BB962C8B-B14F-4D97-AF65-F5344CB8AC3E}">
        <p14:creationId xmlns:p14="http://schemas.microsoft.com/office/powerpoint/2010/main" val="18983367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17235-4D41-4DBF-BD9C-C9D1983A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El 20% de las altas concentra el 38,8% de los reingresos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C9E97-21CA-4C69-8728-27B93513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50FA0-25D8-4AEA-85B3-D7B5FCC5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381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47D92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147D92"/>
                </a:solidFill>
                <a:latin typeface="DejaVu Sans"/>
                <a:ea typeface="DejaVu Sans"/>
                <a:cs typeface="DejaVu Sans"/>
              </a:rPr>
              <a:t>1,94×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0F472-9C57-4A13-B32A-6D3975B2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328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captura frente al azar</a:t>
            </a:r>
          </a:p>
          <a:p xmlns:a="http://schemas.openxmlformats.org/drawingml/2006/main">
            <a:pPr>
              <a:defRPr sz="2175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con el mismo cupo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B1E51-B4E1-4E26-AAE7-C85464A6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3381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16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2616B"/>
                </a:solidFill>
                <a:latin typeface="DejaVu Sans"/>
                <a:ea typeface="DejaVu Sans"/>
                <a:cs typeface="DejaVu Sans"/>
              </a:rPr>
              <a:t>Precision 22,1%</a:t>
            </a:r>
          </a:p>
          <a:p xmlns:a="http://schemas.openxmlformats.org/drawingml/2006/main">
            <a:pPr>
              <a:defRPr sz="2025" b="0">
                <a:solidFill>
                  <a:srgbClr val="52616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2616B"/>
                </a:solidFill>
                <a:latin typeface="DejaVu Sans"/>
                <a:ea typeface="DejaVu Sans"/>
                <a:cs typeface="DejaVu Sans"/>
              </a:rPr>
              <a:t>876 de 2.259 eventos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4286250" y="1781175"/>
          <a:ext xmlns:a="http://schemas.openxmlformats.org/drawingml/2006/main" cx="7162800" cy="4181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99eba488264433"/>
          </a:graphicData>
        </a:graphic>
      </p:graphicFrame>
    </p:spTree>
    <p:extLst>
      <p:ext uri="{BB962C8B-B14F-4D97-AF65-F5344CB8AC3E}">
        <p14:creationId xmlns:p14="http://schemas.microsoft.com/office/powerpoint/2010/main" val="14466311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7F770-D35F-4F7D-A4F9-62BB3845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Internaciones previas y destino al alta aportan mayor señal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020A3-4ACE-410E-B23B-0DCAC4A0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04850" y="1762125"/>
          <a:ext xmlns:a="http://schemas.openxmlformats.org/drawingml/2006/main" cx="10668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8161f0c27e41d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B0B6D-9279-4A0B-8C65-00B7544E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245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6B"/>
                </a:solidFill>
                <a:latin typeface="DejaVu Sans"/>
                <a:ea typeface="DejaVu Sans"/>
                <a:cs typeface="DejaVu Sans"/>
              </a:rPr>
              <a:t>Asociación predictiva en validación. No demuestra efectos causales.</a:t>
            </a:r>
          </a:p>
        </p:txBody>
      </p:sp>
    </p:spTree>
    <p:extLst>
      <p:ext uri="{BB962C8B-B14F-4D97-AF65-F5344CB8AC3E}">
        <p14:creationId xmlns:p14="http://schemas.microsoft.com/office/powerpoint/2010/main" val="2026379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8C8A1-9A7C-4425-8447-FDF7D676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Los controles respaldan la señal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3E1C1-78FB-450B-B7F1-14E1FA83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14375" y="1809750"/>
          <a:ext xmlns:a="http://schemas.openxmlformats.org/drawingml/2006/main" cx="106680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f2f6b4805a44e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80CA5-749B-4000-90F4-80C0E2D2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6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6B"/>
                </a:solidFill>
                <a:latin typeface="DejaVu Sans"/>
                <a:ea typeface="DejaVu Sans"/>
                <a:cs typeface="DejaVu Sans"/>
              </a:rPr>
              <a:t>AP de referencia: 0,114. El control permutado queda cerca del azar.</a:t>
            </a:r>
          </a:p>
        </p:txBody>
      </p:sp>
    </p:spTree>
    <p:extLst>
      <p:ext uri="{BB962C8B-B14F-4D97-AF65-F5344CB8AC3E}">
        <p14:creationId xmlns:p14="http://schemas.microsoft.com/office/powerpoint/2010/main" val="1577613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B9541-6F05-4B39-8F49-4E5515E5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Límites del resultado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21E35-0390-4D82-ABB3-9E9A5874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87578-3CCA-43E8-A4D2-882739F4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3.079 de las 3.955 altas seleccionadas no tienen reingreso temprano registrado.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18E5C-2866-41BE-88FD-8F035750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El ranking deja fuera 1.383 reingresos. La capacidad de seguimiento importa.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E0523-7291-4574-BD00-26FAF060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Datos históricos de EE. UU. y un solo split por paciente.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C645F-3EBE-46CE-A08D-F7446183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La etiqueta puede omitir reingresos externos o seguimiento incompleto.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60527-F9B0-440F-B254-4E2A4EEC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Aún falta validar disponibilidad al alta, calibración e impacto del seguimiento.</a:t>
            </a:r>
          </a:p>
        </p:txBody>
      </p:sp>
    </p:spTree>
    <p:extLst>
      <p:ext uri="{BB962C8B-B14F-4D97-AF65-F5344CB8AC3E}">
        <p14:creationId xmlns:p14="http://schemas.microsoft.com/office/powerpoint/2010/main" val="20037940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C5726-DADC-41EF-B969-ACBCC2C0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34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Continuar con una PoC de priorización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CF676-191C-4384-8F65-0D0678E5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16B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15D97-1492-4640-AE9B-FE3702AD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972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7D9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47D92"/>
                </a:solidFill>
                <a:latin typeface="DejaVu Sans"/>
                <a:ea typeface="DejaVu Sans"/>
                <a:cs typeface="DejaVu Sans"/>
              </a:rPr>
              <a:t>Factibilidad técnica: sí</a:t>
            </a:r>
          </a:p>
          <a:p xmlns:a="http://schemas.openxmlformats.org/drawingml/2006/main">
            <a:pPr>
              <a:defRPr sz="3225" b="1">
                <a:solidFill>
                  <a:srgbClr val="147D9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47D92"/>
                </a:solidFill>
                <a:latin typeface="DejaVu Sans"/>
                <a:ea typeface="DejaVu Sans"/>
                <a:cs typeface="DejaVu Sans"/>
              </a:rPr>
              <a:t>Desempeño: moderado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5CCBE-5572-408A-9D18-D93BF531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Validación por grupos repetida y revisión de variables con el equipo docente.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E8057-8DDD-4F57-90EC-6EB0D458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Calibración, capacidad de seguimiento y análisis de errores.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B2133-90D1-431D-BDE0-C5836E94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334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3343"/>
                </a:solidFill>
                <a:latin typeface="DejaVu Sans"/>
                <a:ea typeface="DejaVu Sans"/>
                <a:cs typeface="DejaVu Sans"/>
              </a:rPr>
              <a:t>Demo del ranking con casos del dataset y límites visibles.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3A237-9D1D-47EB-ADF7-5C22677B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6267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6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16B"/>
                </a:solidFill>
                <a:latin typeface="DejaVu Sans"/>
                <a:ea typeface="DejaVu Sans"/>
                <a:cs typeface="DejaVu Sans"/>
              </a:rPr>
              <a:t>La reducción de reingresos requerirá una evaluación clínica posterior.</a:t>
            </a:r>
          </a:p>
        </p:txBody>
      </p:sp>
    </p:spTree>
    <p:extLst>
      <p:ext uri="{BB962C8B-B14F-4D97-AF65-F5344CB8AC3E}">
        <p14:creationId xmlns:p14="http://schemas.microsoft.com/office/powerpoint/2010/main" val="21453879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2026-10-02T20:41:05.1400000Z</dcterms:created>
  <dcterms:modified xsi:type="dcterms:W3CDTF">2026-10-02T20:41:05.1400000Z</dcterms:modified>
</coreProperties>
</file>